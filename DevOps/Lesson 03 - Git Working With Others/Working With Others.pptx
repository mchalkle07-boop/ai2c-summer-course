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3" r:id="rId7"/>
    <p:sldId id="266" r:id="rId8"/>
    <p:sldId id="267" r:id="rId9"/>
    <p:sldId id="261" r:id="rId10"/>
    <p:sldId id="262" r:id="rId11"/>
    <p:sldId id="264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E57C80-E4BD-48BA-BAB0-AA750253D0EF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6B26C5-9DBA-437E-8C69-75051E038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2783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 remote --add --push {url1}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git remote --add --push {url2}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26C5-9DBA-437E-8C69-75051E038A7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9654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8 July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2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4736712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8 July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0891" y="104975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3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39800680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8 July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1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9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3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5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7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1" y="5133531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1" y="4952739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1" y="5314323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1" y="5495115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1" y="5675907"/>
            <a:ext cx="3124935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67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49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66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2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80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27003148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9"/>
            <a:ext cx="11024925" cy="4572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8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1" cy="22860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6807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8 July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1365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8 July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1419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1600200"/>
            <a:ext cx="2499359" cy="457200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8 July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4699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9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5997"/>
            <a:ext cx="2499359" cy="3886203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8 July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9956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13" indent="-137157">
              <a:defRPr sz="1300">
                <a:solidFill>
                  <a:schemeClr val="tx1"/>
                </a:solidFill>
              </a:defRPr>
            </a:lvl3pPr>
            <a:lvl4pPr marL="411470" indent="-137157">
              <a:defRPr sz="1300">
                <a:solidFill>
                  <a:schemeClr val="tx1"/>
                </a:solidFill>
              </a:defRPr>
            </a:lvl4pPr>
            <a:lvl5pPr marL="548626" indent="-137157">
              <a:defRPr sz="1300">
                <a:solidFill>
                  <a:schemeClr val="tx1"/>
                </a:solidFill>
              </a:defRPr>
            </a:lvl5pPr>
            <a:lvl6pPr marL="685783" indent="-137157">
              <a:defRPr sz="1300">
                <a:solidFill>
                  <a:schemeClr val="tx1"/>
                </a:solidFill>
              </a:defRPr>
            </a:lvl6pPr>
            <a:lvl7pPr marL="822939" indent="-137157">
              <a:defRPr sz="1300">
                <a:solidFill>
                  <a:schemeClr val="tx1"/>
                </a:solidFill>
              </a:defRPr>
            </a:lvl7pPr>
            <a:lvl8pPr marL="960096" indent="-137157">
              <a:defRPr sz="1300">
                <a:solidFill>
                  <a:schemeClr val="tx1"/>
                </a:solidFill>
              </a:defRPr>
            </a:lvl8pPr>
            <a:lvl9pPr marL="1097253" indent="-137157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8 July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0625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8 July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4344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8 July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5826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2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2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2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2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57" indent="-137157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13" indent="-137157">
              <a:defRPr sz="1300"/>
            </a:lvl3pPr>
            <a:lvl4pPr marL="411470" indent="-137157">
              <a:defRPr sz="1300"/>
            </a:lvl4pPr>
            <a:lvl5pPr marL="548626" indent="-137157">
              <a:defRPr sz="1300"/>
            </a:lvl5pPr>
            <a:lvl6pPr marL="685783" indent="-137157">
              <a:defRPr sz="1300"/>
            </a:lvl6pPr>
            <a:lvl7pPr marL="822939" indent="-137157">
              <a:defRPr sz="1300"/>
            </a:lvl7pPr>
            <a:lvl8pPr marL="960096" indent="-137157">
              <a:defRPr sz="1300"/>
            </a:lvl8pPr>
            <a:lvl9pPr marL="1097253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8 July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945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8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5927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8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023231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8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3030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8 July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1794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57" indent="-137157">
              <a:defRPr sz="1500"/>
            </a:lvl1pPr>
            <a:lvl2pPr marL="274313" indent="-137157">
              <a:defRPr sz="1500"/>
            </a:lvl2pPr>
            <a:lvl3pPr marL="411470" indent="-137157">
              <a:defRPr sz="1500"/>
            </a:lvl3pPr>
            <a:lvl4pPr marL="548626" indent="-137157">
              <a:defRPr sz="1500"/>
            </a:lvl4pPr>
            <a:lvl5pPr marL="685783" indent="-137157">
              <a:defRPr sz="1500"/>
            </a:lvl5pPr>
            <a:lvl6pPr marL="822939" indent="-137157">
              <a:defRPr sz="1500"/>
            </a:lvl6pPr>
            <a:lvl7pPr marL="960096" indent="-137157">
              <a:defRPr sz="1500"/>
            </a:lvl7pPr>
            <a:lvl8pPr marL="1097253" indent="-137157">
              <a:defRPr sz="1500"/>
            </a:lvl8pPr>
            <a:lvl9pPr marL="1234409" indent="-137157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8 July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93701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6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6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6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2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2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2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2" y="3474720"/>
            <a:ext cx="2499359" cy="2697480"/>
          </a:xfrm>
        </p:spPr>
        <p:txBody>
          <a:bodyPr/>
          <a:lstStyle>
            <a:lvl1pPr marL="137157" indent="-137157">
              <a:defRPr sz="1300"/>
            </a:lvl1pPr>
            <a:lvl2pPr marL="274313" indent="-137157">
              <a:defRPr sz="1300"/>
            </a:lvl2pPr>
            <a:lvl3pPr marL="411470" indent="-137157">
              <a:defRPr sz="1300"/>
            </a:lvl3pPr>
            <a:lvl4pPr marL="548626" indent="-137157">
              <a:defRPr sz="1300"/>
            </a:lvl4pPr>
            <a:lvl5pPr marL="685783" indent="-137157">
              <a:defRPr sz="1300"/>
            </a:lvl5pPr>
            <a:lvl6pPr marL="822939" indent="-137157">
              <a:defRPr sz="1300"/>
            </a:lvl6pPr>
            <a:lvl7pPr marL="960096" indent="-137157">
              <a:defRPr sz="1300"/>
            </a:lvl7pPr>
            <a:lvl8pPr marL="1097253" indent="-137157">
              <a:defRPr sz="1300"/>
            </a:lvl8pPr>
            <a:lvl9pPr marL="1234409" indent="-137157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8 July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767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8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baseline="0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8468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8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4217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2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8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707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8 July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8532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2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8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6477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2" y="411482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75" indent="-182875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51">
              <a:defRPr/>
            </a:lvl3pPr>
            <a:lvl4pPr marL="548626">
              <a:defRPr/>
            </a:lvl4pPr>
            <a:lvl5pPr marL="731502">
              <a:defRPr/>
            </a:lvl5pPr>
            <a:lvl6pPr marL="914377">
              <a:defRPr/>
            </a:lvl6pPr>
            <a:lvl7pPr marL="1097253">
              <a:defRPr/>
            </a:lvl7pPr>
            <a:lvl8pPr marL="1280128">
              <a:defRPr/>
            </a:lvl8pPr>
            <a:lvl9pPr marL="1463003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8" y="1076325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8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5195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8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4679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8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i="0" u="none" strike="noStrike" cap="none" baseline="0" dirty="0">
                <a:solidFill>
                  <a:srgbClr val="2DAA27"/>
                </a:solidFill>
                <a:latin typeface="Arial"/>
                <a:ea typeface="Arial"/>
                <a:cs typeface="Arial Bold" panose="020B0704020202020204" pitchFamily="34" charset="0"/>
                <a:sym typeface="Arial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5819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8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7103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8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0848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9" y="4819415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8 July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3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804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4973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1_Title Slid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6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1620174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1_Title 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7694777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 preserve="1">
  <p:cSld name="Title and two columns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415633" y="667900"/>
            <a:ext cx="11360800" cy="83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Play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1"/>
          </p:nvPr>
        </p:nvSpPr>
        <p:spPr>
          <a:xfrm>
            <a:off x="415600" y="2007600"/>
            <a:ext cx="5333200" cy="4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1219170" lvl="1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828754" lvl="2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2438339" lvl="3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3047924" lvl="4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3657509" lvl="5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4267093" lvl="6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4876678" lvl="7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5486263" lvl="8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2"/>
          </p:nvPr>
        </p:nvSpPr>
        <p:spPr>
          <a:xfrm>
            <a:off x="6443200" y="2007600"/>
            <a:ext cx="5333200" cy="41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  <a:defRPr/>
            </a:lvl1pPr>
            <a:lvl2pPr marL="1219170" lvl="1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2pPr>
            <a:lvl3pPr marL="1828754" lvl="2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3pPr>
            <a:lvl4pPr marL="2438339" lvl="3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4pPr>
            <a:lvl5pPr marL="3047924" lvl="4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5pPr>
            <a:lvl6pPr marL="3657509" lvl="5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6pPr>
            <a:lvl7pPr marL="4267093" lvl="6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/>
            </a:lvl7pPr>
            <a:lvl8pPr marL="4876678" lvl="7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/>
            </a:lvl8pPr>
            <a:lvl9pPr marL="5486263" lvl="8" indent="-39792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Clr>
                <a:srgbClr val="757575"/>
              </a:buClr>
              <a:buSzPts val="9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58727072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27B06-92CB-CBF0-30C0-1026AC77C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B99E9-69A4-B57F-C3B9-95C016A7CE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9C23C5-20F0-222F-87C0-9BBCFC985C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CFD4B4-0799-B561-1826-590FDAE09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CE5D9-8CB3-4D3A-B563-A2D3F8C45F11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9D8F22-6E58-9EBF-4DE1-AF4367C26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9534CC-D730-6E03-F7EA-2547784FE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B58D9E-3EC9-4D82-B2FE-CB301728EB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815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6"/>
          <a:srcRect l="26274" t="67"/>
          <a:stretch>
            <a:fillRect/>
          </a:stretch>
        </p:blipFill>
        <p:spPr>
          <a:xfrm>
            <a:off x="10428515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9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6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1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8 July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7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7"/>
          <a:stretch>
            <a:fillRect/>
          </a:stretch>
        </p:blipFill>
        <p:spPr>
          <a:xfrm>
            <a:off x="9926021" y="424087"/>
            <a:ext cx="502495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905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</p:sldLayoutIdLst>
  <p:hf hdr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75" indent="-182875" algn="l" defTabSz="914377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51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26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02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377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53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28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03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879" indent="-182875" algn="l" defTabSz="914377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ithub.com/en/pull-requests/collaborating-with-pull-requests/working-with-forks/fork-a-repo" TargetMode="Externa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686745-A07A-210B-CDB3-FC50D3753EE7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0A8AFF6-3B91-5A11-771D-76C8DD709D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C7EC641-550C-8BAD-A182-FD2EE9563750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6A8059D-BE89-5CE0-6474-8BC27751B996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2E5D7E4-6E0E-53ED-D33E-BBC35ABA4A1E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EB4E55C-9BA7-8EC0-AF6B-DED7C5B051E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EFF26F-3779-280A-4976-DF3298D2608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FAD134C-63E5-3DDD-466A-238BDBA71D0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96CD397-2F07-E3D8-5DBA-7186F8626DC4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4987747-E3D0-C7AF-E285-26E000703FF6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00E9D5-6D5F-F73A-DC2D-784D4F939C5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Git – Working With Others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F2D602-5058-AB8E-A655-5AC44B8687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AI2C Tech Intro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6DA291-9564-95A9-E228-78AFC76A5D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280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8E708-0135-C0CC-B452-EBE6E71A7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7F24F-2CDC-E4DA-B874-78104831E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414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002D2-B711-05F2-BB0D-3F55DC449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ECD41-99C2-66E1-A86E-C3CCBA229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Push changes to a remote repository from a local repository </a:t>
            </a:r>
          </a:p>
          <a:p>
            <a:r>
              <a:rPr lang="en-US" dirty="0"/>
              <a:t>Pull changes from the remote repository to the local repository</a:t>
            </a:r>
          </a:p>
          <a:p>
            <a:r>
              <a:rPr lang="en-US" dirty="0"/>
              <a:t>Discuss origins, forks, and </a:t>
            </a:r>
            <a:r>
              <a:rPr lang="en-US" dirty="0" err="1"/>
              <a:t>upstreams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2620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4E780-9F99-C6C7-E8C7-376F40D81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Remotes and Origins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7A0E3F-EC68-340D-93ED-E533B27056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Cloning – automatically sets up an “origin” remote </a:t>
            </a:r>
            <a:r>
              <a:rPr lang="en-US" dirty="0" err="1"/>
              <a:t>url</a:t>
            </a:r>
            <a:r>
              <a:rPr lang="en-US" dirty="0"/>
              <a:t> tracking that repository</a:t>
            </a:r>
          </a:p>
          <a:p>
            <a:pPr lvl="1"/>
            <a:r>
              <a:rPr lang="en-US" dirty="0"/>
              <a:t>Fetch, pull, push all work on that “origin” repository</a:t>
            </a:r>
          </a:p>
          <a:p>
            <a:pPr lvl="1"/>
            <a:r>
              <a:rPr lang="en-US" dirty="0"/>
              <a:t>Can specify an alternate name or repository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remote -v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 remote show origin</a:t>
            </a:r>
          </a:p>
          <a:p>
            <a:endParaRPr lang="en-US" dirty="0">
              <a:cs typeface="Courier New" panose="02070309020205020404" pitchFamily="49" charset="0"/>
            </a:endParaRPr>
          </a:p>
          <a:p>
            <a:endParaRPr lang="en-US" dirty="0">
              <a:cs typeface="Courier New" panose="02070309020205020404" pitchFamily="49" charset="0"/>
            </a:endParaRPr>
          </a:p>
          <a:p>
            <a:r>
              <a:rPr lang="en-US" dirty="0">
                <a:cs typeface="Courier New" panose="02070309020205020404" pitchFamily="49" charset="0"/>
              </a:rPr>
              <a:t>Why might I ever use multiple remotes?</a:t>
            </a:r>
          </a:p>
        </p:txBody>
      </p:sp>
    </p:spTree>
    <p:extLst>
      <p:ext uri="{BB962C8B-B14F-4D97-AF65-F5344CB8AC3E}">
        <p14:creationId xmlns:p14="http://schemas.microsoft.com/office/powerpoint/2010/main" val="4149806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7D9B9-F294-A633-DE21-7739F8FE2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Pushing and Pulling</a:t>
            </a:r>
          </a:p>
        </p:txBody>
      </p:sp>
      <p:pic>
        <p:nvPicPr>
          <p:cNvPr id="1028" name="Picture 4" descr="Meet Git">
            <a:extLst>
              <a:ext uri="{FF2B5EF4-FFF2-40B4-BE49-F238E27FC236}">
                <a16:creationId xmlns:a16="http://schemas.microsoft.com/office/drawing/2014/main" id="{6E14B4B5-94B9-3279-08C0-B8C06E505C7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93837" y="1943100"/>
            <a:ext cx="9134475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7495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2F98A-0A22-FFC7-AEC5-4E47AB0A1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Pull</a:t>
            </a:r>
          </a:p>
        </p:txBody>
      </p:sp>
      <p:pic>
        <p:nvPicPr>
          <p:cNvPr id="2050" name="Picture 2" descr="Pull &amp; Push - the remote repository - DEVGuide">
            <a:extLst>
              <a:ext uri="{FF2B5EF4-FFF2-40B4-BE49-F238E27FC236}">
                <a16:creationId xmlns:a16="http://schemas.microsoft.com/office/drawing/2014/main" id="{5622FE12-9F13-4235-26C5-D59CDCFEF1F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5263" y="1291784"/>
            <a:ext cx="7021473" cy="5201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5643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39D7B-7537-E53C-FD0B-5A0C6F836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Intro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C420CD-1936-6111-E728-7B13F77CC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1" y="1600199"/>
            <a:ext cx="4023360" cy="4572000"/>
          </a:xfrm>
        </p:spPr>
        <p:txBody>
          <a:bodyPr/>
          <a:lstStyle/>
          <a:p>
            <a:r>
              <a:rPr lang="en-US" dirty="0"/>
              <a:t>Developer platform built on top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git</a:t>
            </a:r>
          </a:p>
          <a:p>
            <a:r>
              <a:rPr lang="en-US" dirty="0"/>
              <a:t>On top of version control it provides</a:t>
            </a:r>
          </a:p>
          <a:p>
            <a:pPr lvl="1"/>
            <a:r>
              <a:rPr lang="en-US" dirty="0"/>
              <a:t>Issue tracking</a:t>
            </a:r>
          </a:p>
          <a:p>
            <a:pPr lvl="1"/>
            <a:r>
              <a:rPr lang="en-US" dirty="0"/>
              <a:t>Release management</a:t>
            </a:r>
          </a:p>
          <a:p>
            <a:pPr lvl="1"/>
            <a:r>
              <a:rPr lang="en-US" dirty="0"/>
              <a:t>Access control</a:t>
            </a:r>
          </a:p>
          <a:p>
            <a:pPr lvl="1"/>
            <a:r>
              <a:rPr lang="en-US" dirty="0"/>
              <a:t>Continuous Integration / </a:t>
            </a:r>
            <a:br>
              <a:rPr lang="en-US" dirty="0"/>
            </a:br>
            <a:r>
              <a:rPr lang="en-US" dirty="0"/>
              <a:t>Continuous Deployment</a:t>
            </a:r>
          </a:p>
          <a:p>
            <a:pPr lvl="1"/>
            <a:endParaRPr lang="en-US" dirty="0"/>
          </a:p>
          <a:p>
            <a:r>
              <a:rPr lang="en-US" dirty="0"/>
              <a:t>For now, it will be our "remote" and "upstream"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1BED9D-B630-8F25-DA9D-59C595EC9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8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9A352C-72CC-29C7-A67E-49BE0005CC5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CFE360-E205-1308-D472-EC1F22979E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1331" y="1512916"/>
            <a:ext cx="7370917" cy="410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442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87C40-4D1F-D4C5-305E-37AA120F6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D8BB3-06C3-BC86-2259-CB93BF4F30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Version Management</a:t>
            </a:r>
          </a:p>
          <a:p>
            <a:pPr lvl="1"/>
            <a:r>
              <a:rPr lang="en-US" dirty="0"/>
              <a:t>Code</a:t>
            </a:r>
          </a:p>
          <a:p>
            <a:pPr lvl="1"/>
            <a:r>
              <a:rPr lang="en-US" dirty="0"/>
              <a:t>Branches</a:t>
            </a:r>
          </a:p>
          <a:p>
            <a:pPr lvl="1"/>
            <a:r>
              <a:rPr lang="en-US" dirty="0"/>
              <a:t>Commits</a:t>
            </a:r>
          </a:p>
          <a:p>
            <a:r>
              <a:rPr lang="en-US" dirty="0"/>
              <a:t>Collaboration</a:t>
            </a:r>
          </a:p>
          <a:p>
            <a:pPr lvl="1"/>
            <a:r>
              <a:rPr lang="en-US" dirty="0"/>
              <a:t>Issues</a:t>
            </a:r>
          </a:p>
          <a:p>
            <a:pPr lvl="1"/>
            <a:r>
              <a:rPr lang="en-US" dirty="0"/>
              <a:t>Forks</a:t>
            </a:r>
          </a:p>
          <a:p>
            <a:pPr lvl="1"/>
            <a:r>
              <a:rPr lang="en-US" dirty="0"/>
              <a:t>Pull Requests</a:t>
            </a:r>
          </a:p>
          <a:p>
            <a:r>
              <a:rPr lang="en-US" dirty="0"/>
              <a:t>Administration</a:t>
            </a:r>
          </a:p>
          <a:p>
            <a:pPr lvl="1"/>
            <a:r>
              <a:rPr lang="en-US" dirty="0"/>
              <a:t>Repository Settings</a:t>
            </a:r>
          </a:p>
          <a:p>
            <a:pPr lvl="1"/>
            <a:r>
              <a:rPr lang="en-US" dirty="0"/>
              <a:t>User Settings</a:t>
            </a:r>
          </a:p>
          <a:p>
            <a:r>
              <a:rPr lang="en-US" dirty="0"/>
              <a:t>CI/CD</a:t>
            </a:r>
          </a:p>
          <a:p>
            <a:pPr lvl="1"/>
            <a:r>
              <a:rPr lang="en-US" dirty="0"/>
              <a:t>Actions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898B90-616F-7424-7FBA-656E2D907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8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761BDF-72D2-B7AB-423C-85BFCDF5F67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5225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4E106-C822-586E-581C-02573AAB3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Forking and </a:t>
            </a:r>
            <a:r>
              <a:rPr lang="en-US" dirty="0" err="1"/>
              <a:t>Upstreams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9B6AB5-81B5-0B4C-DE65-A5A7D127A5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Read this link to the “Prerequisites” section: </a:t>
            </a:r>
            <a:r>
              <a:rPr lang="en-US" dirty="0">
                <a:hlinkClick r:id="rId2"/>
              </a:rPr>
              <a:t>https://docs.github.com/en/pull-requests/collaborating-with-pull-requests/working-with-forks/fork-a-repo</a:t>
            </a:r>
            <a:endParaRPr lang="en-US" dirty="0"/>
          </a:p>
          <a:p>
            <a:endParaRPr lang="en-US" dirty="0"/>
          </a:p>
          <a:p>
            <a:r>
              <a:rPr lang="en-US" dirty="0"/>
              <a:t>What is a fork?   What uses does it have?</a:t>
            </a:r>
          </a:p>
        </p:txBody>
      </p:sp>
    </p:spTree>
    <p:extLst>
      <p:ext uri="{BB962C8B-B14F-4D97-AF65-F5344CB8AC3E}">
        <p14:creationId xmlns:p14="http://schemas.microsoft.com/office/powerpoint/2010/main" val="3958238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3F4AE-4580-323E-5404-0DEE1394F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Pull Requests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5A84D0-8B9A-E646-0AFA-98EA6D8B03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Should really be named a “merge” request.</a:t>
            </a:r>
          </a:p>
          <a:p>
            <a:r>
              <a:rPr lang="en-US" dirty="0"/>
              <a:t>“Would you please merge my changes into your repository?”</a:t>
            </a:r>
          </a:p>
          <a:p>
            <a:r>
              <a:rPr lang="en-US" dirty="0"/>
              <a:t>If forked, the original developers need to pull from your repository to do the merge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3074" name="Picture 2" descr="LGTM : r/ProgrammerHumor">
            <a:extLst>
              <a:ext uri="{FF2B5EF4-FFF2-40B4-BE49-F238E27FC236}">
                <a16:creationId xmlns:a16="http://schemas.microsoft.com/office/drawing/2014/main" id="{C6661216-2A9C-A5F4-4778-30077EE647F1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2" y="924642"/>
            <a:ext cx="6019711" cy="5568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6369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FB1E2-927F-CFEA-8A2D-37FF6F3C3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#1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96F23-D37C-FE78-D37E-F3C8667642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Inspect git remotes</a:t>
            </a:r>
          </a:p>
          <a:p>
            <a:r>
              <a:rPr lang="en-US" dirty="0"/>
              <a:t>Push/pull from a remote repository</a:t>
            </a:r>
          </a:p>
          <a:p>
            <a:r>
              <a:rPr lang="en-US" dirty="0"/>
              <a:t>Fork a remote repository and issue a </a:t>
            </a:r>
            <a:r>
              <a:rPr lang="en-US"/>
              <a:t>pull request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05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E7CE5-0010-218B-DFE3-AE99DA799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Collaboration 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763D8B-9661-E24B-6351-6CCAC8A94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86B00E-C197-49A4-6DE1-42182197D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22D1A-DF83-41A8-85FF-04D90BF831D3}" type="datetime3">
              <a:rPr lang="en-US" smtClean="0"/>
              <a:t>8 July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0F6CCF-EE04-F688-EFC1-EE1976F065D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107589"/>
      </p:ext>
    </p:extLst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</TotalTime>
  <Words>288</Words>
  <Application>Microsoft Office PowerPoint</Application>
  <PresentationFormat>Widescreen</PresentationFormat>
  <Paragraphs>63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Aptos</vt:lpstr>
      <vt:lpstr>Arial</vt:lpstr>
      <vt:lpstr>Arial Bold</vt:lpstr>
      <vt:lpstr>Courier New</vt:lpstr>
      <vt:lpstr>Play</vt:lpstr>
      <vt:lpstr>US Army 2023 AFC DEVCOM Logo</vt:lpstr>
      <vt:lpstr>Git – Working With Others</vt:lpstr>
      <vt:lpstr>Review…</vt:lpstr>
      <vt:lpstr>Objectives</vt:lpstr>
      <vt:lpstr>Remotes and Origins</vt:lpstr>
      <vt:lpstr>Pushing and Pulling</vt:lpstr>
      <vt:lpstr>Git Pull</vt:lpstr>
      <vt:lpstr>GitHub Intro</vt:lpstr>
      <vt:lpstr>GitHub Demo</vt:lpstr>
      <vt:lpstr>Forking and Upstreams</vt:lpstr>
      <vt:lpstr>Pull Requests</vt:lpstr>
      <vt:lpstr>Hands-On #1</vt:lpstr>
      <vt:lpstr>Collaboration Exercise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Shafer</dc:creator>
  <cp:lastModifiedBy>Ethan Shafer</cp:lastModifiedBy>
  <cp:revision>40</cp:revision>
  <dcterms:created xsi:type="dcterms:W3CDTF">2025-08-04T12:48:29Z</dcterms:created>
  <dcterms:modified xsi:type="dcterms:W3CDTF">2026-07-08T20:54:46Z</dcterms:modified>
</cp:coreProperties>
</file>