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27"/>
  </p:notesMasterIdLst>
  <p:sldIdLst>
    <p:sldId id="321" r:id="rId2"/>
    <p:sldId id="322" r:id="rId3"/>
    <p:sldId id="323" r:id="rId4"/>
    <p:sldId id="324" r:id="rId5"/>
    <p:sldId id="325" r:id="rId6"/>
    <p:sldId id="326" r:id="rId7"/>
    <p:sldId id="328" r:id="rId8"/>
    <p:sldId id="335" r:id="rId9"/>
    <p:sldId id="336" r:id="rId10"/>
    <p:sldId id="327" r:id="rId11"/>
    <p:sldId id="337" r:id="rId12"/>
    <p:sldId id="338" r:id="rId13"/>
    <p:sldId id="339" r:id="rId14"/>
    <p:sldId id="342" r:id="rId15"/>
    <p:sldId id="331" r:id="rId16"/>
    <p:sldId id="341" r:id="rId17"/>
    <p:sldId id="340" r:id="rId18"/>
    <p:sldId id="333" r:id="rId19"/>
    <p:sldId id="343" r:id="rId20"/>
    <p:sldId id="344" r:id="rId21"/>
    <p:sldId id="345" r:id="rId22"/>
    <p:sldId id="329" r:id="rId23"/>
    <p:sldId id="346" r:id="rId24"/>
    <p:sldId id="347" r:id="rId25"/>
    <p:sldId id="313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8629" autoAdjust="0"/>
  </p:normalViewPr>
  <p:slideViewPr>
    <p:cSldViewPr snapToGrid="0">
      <p:cViewPr varScale="1">
        <p:scale>
          <a:sx n="96" d="100"/>
          <a:sy n="96" d="100"/>
        </p:scale>
        <p:origin x="1219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you write “given, when, then” for the code on the right?</a:t>
            </a:r>
          </a:p>
        </p:txBody>
      </p:sp>
    </p:spTree>
    <p:extLst>
      <p:ext uri="{BB962C8B-B14F-4D97-AF65-F5344CB8AC3E}">
        <p14:creationId xmlns:p14="http://schemas.microsoft.com/office/powerpoint/2010/main" val="259124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36 of inventory.py might be "covered" but you need to be careful about the 'or' statement</a:t>
            </a:r>
          </a:p>
        </p:txBody>
      </p:sp>
    </p:spTree>
    <p:extLst>
      <p:ext uri="{BB962C8B-B14F-4D97-AF65-F5344CB8AC3E}">
        <p14:creationId xmlns:p14="http://schemas.microsoft.com/office/powerpoint/2010/main" val="2776245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https://docs.pytest.org/en/7.1.x/how-to/fixtures.html</a:t>
            </a:r>
          </a:p>
        </p:txBody>
      </p:sp>
    </p:spTree>
    <p:extLst>
      <p:ext uri="{BB962C8B-B14F-4D97-AF65-F5344CB8AC3E}">
        <p14:creationId xmlns:p14="http://schemas.microsoft.com/office/powerpoint/2010/main" val="1523025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Fixtures are cached but side effects are not kept</a:t>
            </a:r>
          </a:p>
        </p:txBody>
      </p:sp>
    </p:spTree>
    <p:extLst>
      <p:ext uri="{BB962C8B-B14F-4D97-AF65-F5344CB8AC3E}">
        <p14:creationId xmlns:p14="http://schemas.microsoft.com/office/powerpoint/2010/main" val="754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fixture is shared and not created multiple times</a:t>
            </a:r>
          </a:p>
        </p:txBody>
      </p:sp>
    </p:spTree>
    <p:extLst>
      <p:ext uri="{BB962C8B-B14F-4D97-AF65-F5344CB8AC3E}">
        <p14:creationId xmlns:p14="http://schemas.microsoft.com/office/powerpoint/2010/main" val="95827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0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18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18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18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18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18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18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18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18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18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18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18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18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18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18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18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7FE559F-A69D-96FE-0A04-8C56F712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4A98C9-C1DD-89E2-DDF3-993183F4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Discuss the importance of a complete test suite</a:t>
            </a:r>
          </a:p>
          <a:p>
            <a:r>
              <a:rPr lang="en-US" sz="2000" dirty="0"/>
              <a:t>Define the differences between unit, integration, and end-to-end testing</a:t>
            </a:r>
          </a:p>
          <a:p>
            <a:r>
              <a:rPr lang="en-US" sz="2000" dirty="0"/>
              <a:t>Create unit tests to achieve a specified code coverage level</a:t>
            </a:r>
          </a:p>
          <a:p>
            <a:r>
              <a:rPr lang="en-US" sz="2000" dirty="0"/>
              <a:t>Utilize fixtures and mocks to implement unit tests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C1BA-8184-F399-52E1-DF0559D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18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16D77-84D3-8FA3-891B-71DA76C5A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F92D-E4C3-FA11-7EC2-01846332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EB188-7270-1524-3E8B-318661C1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Why is testing important?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E6ED-64A6-5458-DB9D-0F6C8FF5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EC50-0401-63AD-7ED6-A349F8DC8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6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F05B-CD75-98E1-A2FA-575C547E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1CD7-A0B0-4C95-2BF1-0C5D7C99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Different mindset of software development</a:t>
            </a:r>
          </a:p>
          <a:p>
            <a:r>
              <a:rPr lang="en-US" sz="2000" dirty="0"/>
              <a:t>Requirements </a:t>
            </a:r>
            <a:r>
              <a:rPr lang="en-US" sz="2000" dirty="0">
                <a:sym typeface="Wingdings" panose="05000000000000000000" pitchFamily="2" charset="2"/>
              </a:rPr>
              <a:t> tests  code</a:t>
            </a:r>
          </a:p>
          <a:p>
            <a:endParaRPr lang="en-US" sz="2000" dirty="0"/>
          </a:p>
          <a:p>
            <a:r>
              <a:rPr lang="en-US" sz="2000" dirty="0"/>
              <a:t>Typically done in red-green-refactor phases</a:t>
            </a:r>
          </a:p>
          <a:p>
            <a:pPr lvl="1"/>
            <a:r>
              <a:rPr lang="en-US" sz="2000" dirty="0"/>
              <a:t>Write a failing test</a:t>
            </a:r>
          </a:p>
          <a:p>
            <a:pPr lvl="1"/>
            <a:r>
              <a:rPr lang="en-US" sz="2000" dirty="0"/>
              <a:t>Write code until the test passes</a:t>
            </a:r>
          </a:p>
          <a:p>
            <a:pPr lvl="1"/>
            <a:r>
              <a:rPr lang="en-US" sz="2000" dirty="0"/>
              <a:t>Refactor the code to cleanup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CA61-666D-3AD7-C994-D81AABA4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AC2A-742E-2C9D-35B8-27BA587AD9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 descr="SAP ABAP Central: Embracing ABAP TDD as a standard development practice">
            <a:extLst>
              <a:ext uri="{FF2B5EF4-FFF2-40B4-BE49-F238E27FC236}">
                <a16:creationId xmlns:a16="http://schemas.microsoft.com/office/drawing/2014/main" id="{2CACE41C-B794-80D5-6A13-59ECBB55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37" y="1106724"/>
            <a:ext cx="3575033" cy="31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12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33D3B0C-739C-850B-E8B0-88D0AE79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AC32-266B-12C8-C1B8-88A1DCC5C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r>
              <a:rPr lang="en-US" sz="2000" dirty="0"/>
              <a:t>Functional</a:t>
            </a:r>
          </a:p>
          <a:p>
            <a:pPr lvl="1"/>
            <a:r>
              <a:rPr lang="en-US" sz="2000" dirty="0"/>
              <a:t>Unit tests</a:t>
            </a:r>
          </a:p>
          <a:p>
            <a:pPr lvl="1"/>
            <a:r>
              <a:rPr lang="en-US" sz="2000" dirty="0"/>
              <a:t>Integration tests</a:t>
            </a:r>
          </a:p>
          <a:p>
            <a:pPr lvl="1"/>
            <a:r>
              <a:rPr lang="en-US" sz="2000" dirty="0"/>
              <a:t>End-to-end tests</a:t>
            </a:r>
          </a:p>
          <a:p>
            <a:pPr lvl="1"/>
            <a:r>
              <a:rPr lang="en-US" sz="2000" dirty="0"/>
              <a:t>Acceptance</a:t>
            </a:r>
          </a:p>
          <a:p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78E69E-B881-745F-F366-5FDC88F3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r>
              <a:rPr lang="en-US" sz="2000" dirty="0"/>
              <a:t>Non-functional</a:t>
            </a:r>
          </a:p>
          <a:p>
            <a:pPr lvl="1"/>
            <a:r>
              <a:rPr lang="en-US" sz="2000" dirty="0"/>
              <a:t>Security</a:t>
            </a:r>
          </a:p>
          <a:p>
            <a:pPr lvl="1"/>
            <a:r>
              <a:rPr lang="en-US" sz="2000" dirty="0"/>
              <a:t>Performance</a:t>
            </a:r>
          </a:p>
          <a:p>
            <a:pPr lvl="1"/>
            <a:r>
              <a:rPr lang="en-US" sz="2000" dirty="0"/>
              <a:t>Usability</a:t>
            </a:r>
          </a:p>
          <a:p>
            <a:pPr lvl="1"/>
            <a:r>
              <a:rPr lang="en-US" sz="2000" dirty="0"/>
              <a:t>Compatibility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F94D-9A8F-273C-9ED2-DF7F0C2D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fld id="{AD622D1A-DF83-41A8-85FF-04D90BF831D3}" type="datetime3">
              <a:rPr lang="en-US" smtClean="0"/>
              <a:pPr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0DA4-BCF7-EF1E-9AA7-BAE9CA7D8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24742-28FC-35BF-F5BC-7DFC4FDD4445}"/>
              </a:ext>
            </a:extLst>
          </p:cNvPr>
          <p:cNvSpPr/>
          <p:nvPr/>
        </p:nvSpPr>
        <p:spPr>
          <a:xfrm>
            <a:off x="323193" y="1478943"/>
            <a:ext cx="2727435" cy="759760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231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D95709F-23DC-CE6B-8806-0F735FC54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F397191A-FBCA-40CC-963B-8A860C4B7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DB2F-43A0-D1EE-D9B5-CDDC2B97D8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DB3DA-67B5-771E-F568-EE6675ECE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A5C1-36C5-E915-CBC5-7D7CD1A7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C36C-120B-87F4-5D71-A794B523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your house stable if the lumber is rotted?</a:t>
            </a:r>
          </a:p>
          <a:p>
            <a:endParaRPr lang="en-US" dirty="0"/>
          </a:p>
          <a:p>
            <a:r>
              <a:rPr lang="en-US" dirty="0"/>
              <a:t>Smallest piece of testable code : unit</a:t>
            </a:r>
          </a:p>
          <a:p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Helps ensure correctness</a:t>
            </a:r>
          </a:p>
          <a:p>
            <a:pPr lvl="1"/>
            <a:r>
              <a:rPr lang="en-US" dirty="0"/>
              <a:t>Catch problems early</a:t>
            </a:r>
          </a:p>
          <a:p>
            <a:pPr lvl="1"/>
            <a:r>
              <a:rPr lang="en-US" dirty="0"/>
              <a:t>Fast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F75E-9FB6-943E-41DF-666C5C59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1C542-534E-2D44-400B-38F340C7F6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 descr="How Long Does It Take For Wood To Rot From Water? | Mr. Happy House">
            <a:extLst>
              <a:ext uri="{FF2B5EF4-FFF2-40B4-BE49-F238E27FC236}">
                <a16:creationId xmlns:a16="http://schemas.microsoft.com/office/drawing/2014/main" id="{7466663E-251C-47AF-5AFF-DEF9015F6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6" r="8171"/>
          <a:stretch>
            <a:fillRect/>
          </a:stretch>
        </p:blipFill>
        <p:spPr bwMode="auto">
          <a:xfrm>
            <a:off x="5066250" y="994411"/>
            <a:ext cx="3777832" cy="349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5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B0CD-E74D-BE1E-414C-3CD3EF0B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/ </a:t>
            </a:r>
            <a:r>
              <a:rPr lang="en-US" dirty="0" err="1"/>
              <a:t>Reqts</a:t>
            </a:r>
            <a:r>
              <a:rPr lang="en-US" dirty="0"/>
              <a:t>.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A605-4A2B-6CAF-CFDB-7A668CF8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– When – Then</a:t>
            </a:r>
          </a:p>
          <a:p>
            <a:pPr lvl="1"/>
            <a:r>
              <a:rPr lang="en-US" dirty="0"/>
              <a:t>Given:  The initial conditions / prerequisites</a:t>
            </a:r>
          </a:p>
          <a:p>
            <a:pPr lvl="1"/>
            <a:r>
              <a:rPr lang="en-US" dirty="0"/>
              <a:t>When:  The action or event to be verified</a:t>
            </a:r>
          </a:p>
          <a:p>
            <a:pPr lvl="1"/>
            <a:r>
              <a:rPr lang="en-US" dirty="0"/>
              <a:t>Then:  The outcomes of the action or event</a:t>
            </a:r>
          </a:p>
          <a:p>
            <a:pPr lvl="1"/>
            <a:endParaRPr lang="en-US" dirty="0"/>
          </a:p>
          <a:p>
            <a:r>
              <a:rPr lang="en-US" dirty="0"/>
              <a:t>Useful for formulating unit tests based on requirements</a:t>
            </a:r>
          </a:p>
          <a:p>
            <a:r>
              <a:rPr lang="en-US" dirty="0"/>
              <a:t>Used to communicate with non-technical stakeholders</a:t>
            </a:r>
          </a:p>
          <a:p>
            <a:endParaRPr lang="en-US" dirty="0"/>
          </a:p>
          <a:p>
            <a:r>
              <a:rPr lang="en-US" dirty="0"/>
              <a:t>Tests should be independent, reproducible, and small!!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4E67-D772-02EE-2CB1-D80A2922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A20B5-183D-3DB8-5673-BF11A0ADE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7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9D93-4180-EF54-50FF-00DB1942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D1D4-5C92-E15E-754F-BC4FD4C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1E27D-B0B5-62F1-862A-867482461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 descr="Agile Glossary: Agile acronyms and terms explained">
            <a:extLst>
              <a:ext uri="{FF2B5EF4-FFF2-40B4-BE49-F238E27FC236}">
                <a16:creationId xmlns:a16="http://schemas.microsoft.com/office/drawing/2014/main" id="{98A883D0-A54F-C3ED-9369-C3576E6897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64" y="170512"/>
            <a:ext cx="8321040" cy="480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99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C4A051-5CF9-F03C-F6A8-EEDF3A08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Python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E6471E-885A-C4EC-98B7-2EEF5A626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/ </a:t>
            </a:r>
            <a:r>
              <a:rPr lang="en-US" dirty="0" err="1"/>
              <a:t>unittest</a:t>
            </a:r>
            <a:r>
              <a:rPr lang="en-US" dirty="0"/>
              <a:t> / </a:t>
            </a:r>
            <a:r>
              <a:rPr lang="en-US" dirty="0" err="1"/>
              <a:t>doctest</a:t>
            </a:r>
            <a:endParaRPr lang="en-US" dirty="0"/>
          </a:p>
          <a:p>
            <a:r>
              <a:rPr lang="en-US" dirty="0"/>
              <a:t>Each has their own pros/cons</a:t>
            </a:r>
          </a:p>
          <a:p>
            <a:r>
              <a:rPr lang="en-US" dirty="0"/>
              <a:t>Assert statement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1876-1A94-405C-2DB3-D9A7BF85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83A2-D3FE-3766-A6CD-A4F0CC2B4B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16F60-E62F-E722-A549-EB4588C17CB8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8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3651-07F6-DB6F-A98E-EFB6F1D8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2E27-18DF-F8AB-1548-D158CE0BBD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separate package / command</a:t>
            </a:r>
          </a:p>
          <a:p>
            <a:r>
              <a:rPr lang="en-US" dirty="0"/>
              <a:t>Generally auto-discovers tests</a:t>
            </a:r>
          </a:p>
          <a:p>
            <a:r>
              <a:rPr lang="en-US" dirty="0"/>
              <a:t>Can also give specific files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pytest-cov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C1246-14A2-519B-9F55-69EC95F5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38D10-9EA1-24C6-4C63-94CE5D5CBB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22EB9-9C92-8A02-6C6E-CF471D491576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C907C-09AF-C73A-EF05-EE3567B8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3" y="3627494"/>
            <a:ext cx="9144000" cy="14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7264-3561-01DF-CFB2-F05689F7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BB724-6DB6-4EF5-D90E-C137CF0371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Temperature conversion</a:t>
            </a:r>
          </a:p>
          <a:p>
            <a:r>
              <a:rPr lang="en-US" dirty="0"/>
              <a:t>Scenario 1</a:t>
            </a:r>
          </a:p>
          <a:p>
            <a:pPr lvl="1"/>
            <a:r>
              <a:rPr lang="en-US" dirty="0"/>
              <a:t>Given a temperature of 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32F</a:t>
            </a:r>
          </a:p>
          <a:p>
            <a:r>
              <a:rPr lang="en-US" dirty="0"/>
              <a:t>Scenario 2</a:t>
            </a:r>
          </a:p>
          <a:p>
            <a:pPr lvl="1"/>
            <a:r>
              <a:rPr lang="en-US" dirty="0"/>
              <a:t>Given a temperature of 100C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212F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C7BCA-AE9D-B545-6AFE-970F098650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Scenario 3</a:t>
            </a:r>
          </a:p>
          <a:p>
            <a:pPr lvl="1"/>
            <a:r>
              <a:rPr lang="en-US" dirty="0"/>
              <a:t>Given a temperature of -40C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-40F</a:t>
            </a:r>
          </a:p>
          <a:p>
            <a:r>
              <a:rPr lang="en-US" dirty="0"/>
              <a:t>Scenario 4</a:t>
            </a:r>
          </a:p>
          <a:p>
            <a:pPr lvl="1"/>
            <a:r>
              <a:rPr lang="en-US" dirty="0"/>
              <a:t>Given a temperature of -300C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an error!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9210C-E383-2C70-69E9-8F3B29E3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9A9C-2C9B-C770-ED0C-27DDC13889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3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93DEF-0125-C556-C5DB-76B76434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AB1948-77A9-A7D2-7B16-3ED4D8D81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434AD-5E2E-0FAD-91BD-BC1E28DBCF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D50F-1517-9E8D-2D77-FBE74D198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2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5B60-B1FC-1506-689D-7DD83D203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Testing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F8CC1-46D5-FCBF-6034-9F91BA4A2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3342-5FB8-2795-34ED-1344FFF14F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829A-691A-9257-36A0-7F2B973054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8CD09-B708-C8FB-296A-F234E37A1C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73682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F007-C706-BB88-CA9D-5A0EA65F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369A-5286-95C3-F1B1-37C71A72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 statements create branches</a:t>
            </a:r>
          </a:p>
          <a:p>
            <a:r>
              <a:rPr lang="en-US" dirty="0"/>
              <a:t>Are we covering every branch?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much coverage is appropriate?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6368-EE73-EDD4-A570-E1B8AEC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EC8BB-A300-E137-E2BE-5D5200542B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6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A327-E0F2-27C7-00A9-4C62F0E3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5EBD69-E5F4-0337-03B7-1432402A40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0949" y="994411"/>
            <a:ext cx="3627890" cy="202262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08E6-5131-B36E-0FBC-26BEEA0B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B6D3-6F8D-0CE5-ECBB-04D8DDF14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A7033-21A9-9E57-A2BD-B6A206D7AF02}"/>
              </a:ext>
            </a:extLst>
          </p:cNvPr>
          <p:cNvSpPr txBox="1"/>
          <p:nvPr/>
        </p:nvSpPr>
        <p:spPr>
          <a:xfrm>
            <a:off x="410766" y="1200150"/>
            <a:ext cx="4572000" cy="206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5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144F-FE59-741D-2921-2ACD8FAC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0220-1517-79DB-8E21-5278B36E4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724" y="1200150"/>
            <a:ext cx="4023360" cy="3429000"/>
          </a:xfrm>
        </p:spPr>
        <p:txBody>
          <a:bodyPr/>
          <a:lstStyle/>
          <a:p>
            <a:r>
              <a:rPr lang="en-US" dirty="0"/>
              <a:t>Inventory class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=inventory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-report=term-missing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-report=html</a:t>
            </a:r>
          </a:p>
          <a:p>
            <a:endParaRPr lang="en-US" dirty="0"/>
          </a:p>
          <a:p>
            <a:r>
              <a:rPr lang="en-US" dirty="0"/>
              <a:t>What could be hiding in this coverage?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BF319-FBAB-5B5C-4508-1FF0F4B4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D9745-8E55-185D-FB29-9D59A6D091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E85E4D-C78A-18C2-27EF-CA428657E9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9735" y="1151232"/>
            <a:ext cx="4779110" cy="299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7449-8A14-8E4E-1773-68687CF0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FD7A7-318A-9FEF-28C1-5F14AE54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1:</a:t>
            </a:r>
          </a:p>
          <a:p>
            <a:pPr lvl="1"/>
            <a:r>
              <a:rPr lang="en-US" dirty="0"/>
              <a:t>Consistent config / setup</a:t>
            </a:r>
          </a:p>
          <a:p>
            <a:pPr lvl="1"/>
            <a:r>
              <a:rPr lang="en-US" dirty="0"/>
              <a:t>Consistent parameters</a:t>
            </a:r>
          </a:p>
          <a:p>
            <a:r>
              <a:rPr lang="en-US" dirty="0"/>
              <a:t>Case 2:</a:t>
            </a:r>
          </a:p>
          <a:p>
            <a:pPr lvl="1"/>
            <a:r>
              <a:rPr lang="en-US" dirty="0"/>
              <a:t>Input data generally stays the same</a:t>
            </a:r>
          </a:p>
          <a:p>
            <a:pPr lvl="1"/>
            <a:r>
              <a:rPr lang="en-US" dirty="0"/>
              <a:t>Multiple functions might need the same inputs</a:t>
            </a:r>
          </a:p>
          <a:p>
            <a:pPr lvl="1"/>
            <a:r>
              <a:rPr lang="en-US" dirty="0"/>
              <a:t>Have to write the same input data for each test?</a:t>
            </a:r>
          </a:p>
          <a:p>
            <a:r>
              <a:rPr lang="en-US" dirty="0"/>
              <a:t>Case 3:</a:t>
            </a:r>
          </a:p>
          <a:p>
            <a:pPr lvl="1"/>
            <a:r>
              <a:rPr lang="en-US" dirty="0"/>
              <a:t>Specific objects might take a while to instantiate</a:t>
            </a:r>
          </a:p>
          <a:p>
            <a:pPr lvl="1"/>
            <a:r>
              <a:rPr lang="en-US" dirty="0"/>
              <a:t>We want our tests to be fast</a:t>
            </a:r>
          </a:p>
          <a:p>
            <a:pPr lvl="1"/>
            <a:r>
              <a:rPr lang="en-US" dirty="0"/>
              <a:t>Preload those objects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FC9A-DC16-0D9D-1583-AC865242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8E3C8-C147-89EA-F9F4-7977B79D8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8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8921-BD4D-5B6E-2FBA-F2836DE0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62C841-FABF-D46F-FC8F-616B8BE6B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7365" y="1052454"/>
            <a:ext cx="7115988" cy="33584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531EB-F71B-5C5F-1F1F-F121CA1C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70CB1-4188-AD39-4290-CCF8E0598A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33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DD1B-F3B0-F59F-345F-5D1C7D0E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2174EE-2812-2F22-76C8-97935FAF6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9373" y="79031"/>
            <a:ext cx="6014627" cy="49854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BFB7D-B32A-FBF3-D5F5-F1CD4FC1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089C0-371A-E4C3-77BB-56B809D2E5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8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FFEF-2D47-84E3-5D79-E149C8FA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BD7C6-0C9A-08C8-D1BA-911281F6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C8B6B-CA8E-CB24-2673-8ADE45EA25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7D20357-922E-650B-37D3-399955890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95520" y="171559"/>
            <a:ext cx="4991441" cy="48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09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BFE8-BEA7-3940-667B-3FF6A7BC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</a:t>
            </a:r>
            <a:r>
              <a:rPr lang="en-US"/>
              <a:t>External 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B9305-2CBA-FCFF-86FC-1A2D6F2D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ECD0-6721-C76E-C7B4-37CC4871F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9213A-75CF-F98A-E60B-E51AD918363A}"/>
              </a:ext>
            </a:extLst>
          </p:cNvPr>
          <p:cNvSpPr txBox="1"/>
          <p:nvPr/>
        </p:nvSpPr>
        <p:spPr>
          <a:xfrm>
            <a:off x="719732" y="1336317"/>
            <a:ext cx="7704536" cy="2248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"""Fetch a user's name from an API."""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://api.example.com/users/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().get(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82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065D-43EB-5C9E-6C77-5DE8A539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3A9F-4B4E-95F8-EEB1-E8C38E2E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36716"/>
            <a:ext cx="6173470" cy="685800"/>
          </a:xfrm>
        </p:spPr>
        <p:txBody>
          <a:bodyPr/>
          <a:lstStyle/>
          <a:p>
            <a:r>
              <a:rPr lang="en-US" dirty="0"/>
              <a:t>Mocking External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005A-829B-83A4-FF01-9C589FCB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DB06A-57DF-70DE-DB16-44D75ADAB5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8AC6B-9053-105C-9BBA-D292A8B9CC69}"/>
              </a:ext>
            </a:extLst>
          </p:cNvPr>
          <p:cNvSpPr txBox="1"/>
          <p:nvPr/>
        </p:nvSpPr>
        <p:spPr>
          <a:xfrm>
            <a:off x="720090" y="679616"/>
            <a:ext cx="9867568" cy="42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pytest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get_user_name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test_get_user_name_success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"""Test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a mocked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Create a mock response object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.status_code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.json.return_value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Patch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requests.get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to return our mock response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Call the function under test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Assertions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app_requests_get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app_requests_get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.assert_called_once_with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"https://api.example.com/users/123"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5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3137-EE76-F4BD-9363-EE66EBBB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75912A-B09E-D7AA-BF2E-B85E1D93DE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38F5AAB-5F11-E345-0D62-9631ED1D55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267A7-C484-C83E-8B82-9CF82CE72D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D7289-0998-CE75-D9FB-F16435D97F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11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660</TotalTime>
  <Words>994</Words>
  <Application>Microsoft Office PowerPoint</Application>
  <PresentationFormat>On-screen Show (16:9)</PresentationFormat>
  <Paragraphs>219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Testing</vt:lpstr>
      <vt:lpstr>Lesson Objectives</vt:lpstr>
      <vt:lpstr>Why Test?</vt:lpstr>
      <vt:lpstr>Test Driven Development</vt:lpstr>
      <vt:lpstr>Testing Types</vt:lpstr>
      <vt:lpstr>Unit Tests</vt:lpstr>
      <vt:lpstr>Unit Testing</vt:lpstr>
      <vt:lpstr>Unit Testing / Reqts. Framework</vt:lpstr>
      <vt:lpstr>PowerPoint Presentation</vt:lpstr>
      <vt:lpstr>Testing in Python</vt:lpstr>
      <vt:lpstr>PyTest</vt:lpstr>
      <vt:lpstr>Pytest Example</vt:lpstr>
      <vt:lpstr>Hands-On #1</vt:lpstr>
      <vt:lpstr>Other Testing Ideas</vt:lpstr>
      <vt:lpstr>Completeness</vt:lpstr>
      <vt:lpstr>Small Example</vt:lpstr>
      <vt:lpstr>Larger Example</vt:lpstr>
      <vt:lpstr>DRY</vt:lpstr>
      <vt:lpstr>Fixtures</vt:lpstr>
      <vt:lpstr>Fixtures</vt:lpstr>
      <vt:lpstr>Fixtures</vt:lpstr>
      <vt:lpstr>Mocking External References</vt:lpstr>
      <vt:lpstr>Mocking External References</vt:lpstr>
      <vt:lpstr>Hands-On #2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251</cp:revision>
  <dcterms:modified xsi:type="dcterms:W3CDTF">2026-06-18T15:42:36Z</dcterms:modified>
</cp:coreProperties>
</file>